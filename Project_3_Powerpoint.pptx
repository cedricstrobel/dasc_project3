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74" r:id="rId4"/>
    <p:sldId id="272" r:id="rId5"/>
    <p:sldId id="275" r:id="rId6"/>
    <p:sldId id="280" r:id="rId7"/>
    <p:sldId id="276" r:id="rId8"/>
    <p:sldId id="277" r:id="rId9"/>
    <p:sldId id="278" r:id="rId10"/>
    <p:sldId id="279" r:id="rId11"/>
    <p:sldId id="282" r:id="rId12"/>
    <p:sldId id="283" r:id="rId13"/>
    <p:sldId id="285" r:id="rId14"/>
    <p:sldId id="286" r:id="rId15"/>
    <p:sldId id="281" r:id="rId16"/>
    <p:sldId id="287" r:id="rId17"/>
    <p:sldId id="288" r:id="rId18"/>
    <p:sldId id="289" r:id="rId19"/>
    <p:sldId id="290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C72839-6233-4F2C-89D4-4C7225DE271A}" v="109" dt="2025-09-30T22:16:47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3" autoAdjust="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5AA68D-E3A2-444F-89DB-7CA22BFBC99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B46596A-02ED-4A4D-B774-8F65FC4BBDCC}">
      <dgm:prSet/>
      <dgm:spPr/>
      <dgm:t>
        <a:bodyPr/>
        <a:lstStyle/>
        <a:p>
          <a:r>
            <a:rPr lang="en-US" dirty="0"/>
            <a:t>Most promising Model was Model 2</a:t>
          </a:r>
        </a:p>
      </dgm:t>
    </dgm:pt>
    <dgm:pt modelId="{FAA41199-5F46-402B-A335-E5D701038BFD}" type="parTrans" cxnId="{E23BE3D6-BC86-4C43-A964-1F41CC0B3B24}">
      <dgm:prSet/>
      <dgm:spPr/>
      <dgm:t>
        <a:bodyPr/>
        <a:lstStyle/>
        <a:p>
          <a:endParaRPr lang="en-US"/>
        </a:p>
      </dgm:t>
    </dgm:pt>
    <dgm:pt modelId="{B479EB3D-2899-4A75-AF09-8AAB97A75373}" type="sibTrans" cxnId="{E23BE3D6-BC86-4C43-A964-1F41CC0B3B24}">
      <dgm:prSet/>
      <dgm:spPr/>
      <dgm:t>
        <a:bodyPr/>
        <a:lstStyle/>
        <a:p>
          <a:endParaRPr lang="en-US"/>
        </a:p>
      </dgm:t>
    </dgm:pt>
    <dgm:pt modelId="{CF7D8D59-573B-4A58-B148-8093BD05A7F7}">
      <dgm:prSet/>
      <dgm:spPr/>
      <dgm:t>
        <a:bodyPr/>
        <a:lstStyle/>
        <a:p>
          <a:r>
            <a:rPr lang="en-US"/>
            <a:t>Decided to do a full train run on all of the data using the training pre processing as mentioned before using 32 epochs</a:t>
          </a:r>
        </a:p>
      </dgm:t>
    </dgm:pt>
    <dgm:pt modelId="{7B6D7FD0-E17E-4111-8CB4-CA53C4C19CF2}" type="parTrans" cxnId="{CCF80548-AA83-458F-BE00-9F4640964330}">
      <dgm:prSet/>
      <dgm:spPr/>
      <dgm:t>
        <a:bodyPr/>
        <a:lstStyle/>
        <a:p>
          <a:endParaRPr lang="en-US"/>
        </a:p>
      </dgm:t>
    </dgm:pt>
    <dgm:pt modelId="{AFA24526-F40B-4E3A-A0FD-3A0F185FC846}" type="sibTrans" cxnId="{CCF80548-AA83-458F-BE00-9F4640964330}">
      <dgm:prSet/>
      <dgm:spPr/>
      <dgm:t>
        <a:bodyPr/>
        <a:lstStyle/>
        <a:p>
          <a:endParaRPr lang="en-US"/>
        </a:p>
      </dgm:t>
    </dgm:pt>
    <dgm:pt modelId="{1413A370-1267-4CF5-AEA6-74648B54BC44}" type="pres">
      <dgm:prSet presAssocID="{F15AA68D-E3A2-444F-89DB-7CA22BFBC99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BF62D41-43C7-4C8F-B766-7566B1A21CF0}" type="pres">
      <dgm:prSet presAssocID="{6B46596A-02ED-4A4D-B774-8F65FC4BBDCC}" presName="hierRoot1" presStyleCnt="0"/>
      <dgm:spPr/>
    </dgm:pt>
    <dgm:pt modelId="{05A9A456-8C3A-4C39-81C0-7CB5D7B1CCDA}" type="pres">
      <dgm:prSet presAssocID="{6B46596A-02ED-4A4D-B774-8F65FC4BBDCC}" presName="composite" presStyleCnt="0"/>
      <dgm:spPr/>
    </dgm:pt>
    <dgm:pt modelId="{4EB017E5-2856-4C28-A1A6-4E6147CF6E41}" type="pres">
      <dgm:prSet presAssocID="{6B46596A-02ED-4A4D-B774-8F65FC4BBDCC}" presName="background" presStyleLbl="node0" presStyleIdx="0" presStyleCnt="2"/>
      <dgm:spPr/>
    </dgm:pt>
    <dgm:pt modelId="{07DDE927-A41A-4097-B46D-D45181926DA9}" type="pres">
      <dgm:prSet presAssocID="{6B46596A-02ED-4A4D-B774-8F65FC4BBDCC}" presName="text" presStyleLbl="fgAcc0" presStyleIdx="0" presStyleCnt="2">
        <dgm:presLayoutVars>
          <dgm:chPref val="3"/>
        </dgm:presLayoutVars>
      </dgm:prSet>
      <dgm:spPr/>
    </dgm:pt>
    <dgm:pt modelId="{8119EC56-F923-4A4D-BCAC-FC372A1330A3}" type="pres">
      <dgm:prSet presAssocID="{6B46596A-02ED-4A4D-B774-8F65FC4BBDCC}" presName="hierChild2" presStyleCnt="0"/>
      <dgm:spPr/>
    </dgm:pt>
    <dgm:pt modelId="{0265FB0E-16E3-4638-8C78-2661B6CA2841}" type="pres">
      <dgm:prSet presAssocID="{CF7D8D59-573B-4A58-B148-8093BD05A7F7}" presName="hierRoot1" presStyleCnt="0"/>
      <dgm:spPr/>
    </dgm:pt>
    <dgm:pt modelId="{E6E7BCAB-30E3-4BAF-A698-2CC5F6E0A169}" type="pres">
      <dgm:prSet presAssocID="{CF7D8D59-573B-4A58-B148-8093BD05A7F7}" presName="composite" presStyleCnt="0"/>
      <dgm:spPr/>
    </dgm:pt>
    <dgm:pt modelId="{95BDADEE-417D-4C84-8CE4-678DFB9BB174}" type="pres">
      <dgm:prSet presAssocID="{CF7D8D59-573B-4A58-B148-8093BD05A7F7}" presName="background" presStyleLbl="node0" presStyleIdx="1" presStyleCnt="2"/>
      <dgm:spPr/>
    </dgm:pt>
    <dgm:pt modelId="{CBDE59B2-500D-4A24-8579-0EC53AEFF7BB}" type="pres">
      <dgm:prSet presAssocID="{CF7D8D59-573B-4A58-B148-8093BD05A7F7}" presName="text" presStyleLbl="fgAcc0" presStyleIdx="1" presStyleCnt="2">
        <dgm:presLayoutVars>
          <dgm:chPref val="3"/>
        </dgm:presLayoutVars>
      </dgm:prSet>
      <dgm:spPr/>
    </dgm:pt>
    <dgm:pt modelId="{31B8F93F-70F4-42E9-A38F-4B28CE858FAE}" type="pres">
      <dgm:prSet presAssocID="{CF7D8D59-573B-4A58-B148-8093BD05A7F7}" presName="hierChild2" presStyleCnt="0"/>
      <dgm:spPr/>
    </dgm:pt>
  </dgm:ptLst>
  <dgm:cxnLst>
    <dgm:cxn modelId="{CCF80548-AA83-458F-BE00-9F4640964330}" srcId="{F15AA68D-E3A2-444F-89DB-7CA22BFBC991}" destId="{CF7D8D59-573B-4A58-B148-8093BD05A7F7}" srcOrd="1" destOrd="0" parTransId="{7B6D7FD0-E17E-4111-8CB4-CA53C4C19CF2}" sibTransId="{AFA24526-F40B-4E3A-A0FD-3A0F185FC846}"/>
    <dgm:cxn modelId="{02548148-3938-49DB-88B5-99741CD3FA08}" type="presOf" srcId="{6B46596A-02ED-4A4D-B774-8F65FC4BBDCC}" destId="{07DDE927-A41A-4097-B46D-D45181926DA9}" srcOrd="0" destOrd="0" presId="urn:microsoft.com/office/officeart/2005/8/layout/hierarchy1"/>
    <dgm:cxn modelId="{24878B58-0733-48A0-B4FA-FDE99BBA18CB}" type="presOf" srcId="{CF7D8D59-573B-4A58-B148-8093BD05A7F7}" destId="{CBDE59B2-500D-4A24-8579-0EC53AEFF7BB}" srcOrd="0" destOrd="0" presId="urn:microsoft.com/office/officeart/2005/8/layout/hierarchy1"/>
    <dgm:cxn modelId="{E23BE3D6-BC86-4C43-A964-1F41CC0B3B24}" srcId="{F15AA68D-E3A2-444F-89DB-7CA22BFBC991}" destId="{6B46596A-02ED-4A4D-B774-8F65FC4BBDCC}" srcOrd="0" destOrd="0" parTransId="{FAA41199-5F46-402B-A335-E5D701038BFD}" sibTransId="{B479EB3D-2899-4A75-AF09-8AAB97A75373}"/>
    <dgm:cxn modelId="{21CCFEFE-8454-4E1D-A775-3E6FA3599046}" type="presOf" srcId="{F15AA68D-E3A2-444F-89DB-7CA22BFBC991}" destId="{1413A370-1267-4CF5-AEA6-74648B54BC44}" srcOrd="0" destOrd="0" presId="urn:microsoft.com/office/officeart/2005/8/layout/hierarchy1"/>
    <dgm:cxn modelId="{6665A73E-B3FE-4A00-B057-B00C4A1F1BC5}" type="presParOf" srcId="{1413A370-1267-4CF5-AEA6-74648B54BC44}" destId="{CBF62D41-43C7-4C8F-B766-7566B1A21CF0}" srcOrd="0" destOrd="0" presId="urn:microsoft.com/office/officeart/2005/8/layout/hierarchy1"/>
    <dgm:cxn modelId="{63D56868-939A-411D-B283-3EECB3AB1F5C}" type="presParOf" srcId="{CBF62D41-43C7-4C8F-B766-7566B1A21CF0}" destId="{05A9A456-8C3A-4C39-81C0-7CB5D7B1CCDA}" srcOrd="0" destOrd="0" presId="urn:microsoft.com/office/officeart/2005/8/layout/hierarchy1"/>
    <dgm:cxn modelId="{AE41E4BA-4DC2-4D8F-A719-9B865CD28EE1}" type="presParOf" srcId="{05A9A456-8C3A-4C39-81C0-7CB5D7B1CCDA}" destId="{4EB017E5-2856-4C28-A1A6-4E6147CF6E41}" srcOrd="0" destOrd="0" presId="urn:microsoft.com/office/officeart/2005/8/layout/hierarchy1"/>
    <dgm:cxn modelId="{03A0620F-46D1-4F0E-97DB-AD12FD8CC8D7}" type="presParOf" srcId="{05A9A456-8C3A-4C39-81C0-7CB5D7B1CCDA}" destId="{07DDE927-A41A-4097-B46D-D45181926DA9}" srcOrd="1" destOrd="0" presId="urn:microsoft.com/office/officeart/2005/8/layout/hierarchy1"/>
    <dgm:cxn modelId="{5803A579-0648-4A9C-B3EC-DE4070C50D3E}" type="presParOf" srcId="{CBF62D41-43C7-4C8F-B766-7566B1A21CF0}" destId="{8119EC56-F923-4A4D-BCAC-FC372A1330A3}" srcOrd="1" destOrd="0" presId="urn:microsoft.com/office/officeart/2005/8/layout/hierarchy1"/>
    <dgm:cxn modelId="{B9167517-20AC-46E1-9FA9-4FEA9C97085F}" type="presParOf" srcId="{1413A370-1267-4CF5-AEA6-74648B54BC44}" destId="{0265FB0E-16E3-4638-8C78-2661B6CA2841}" srcOrd="1" destOrd="0" presId="urn:microsoft.com/office/officeart/2005/8/layout/hierarchy1"/>
    <dgm:cxn modelId="{E3C2F8FE-4F59-45D4-9AEB-E9175A5F1FBA}" type="presParOf" srcId="{0265FB0E-16E3-4638-8C78-2661B6CA2841}" destId="{E6E7BCAB-30E3-4BAF-A698-2CC5F6E0A169}" srcOrd="0" destOrd="0" presId="urn:microsoft.com/office/officeart/2005/8/layout/hierarchy1"/>
    <dgm:cxn modelId="{43168AB8-23F3-44D4-A1AB-564579034D3E}" type="presParOf" srcId="{E6E7BCAB-30E3-4BAF-A698-2CC5F6E0A169}" destId="{95BDADEE-417D-4C84-8CE4-678DFB9BB174}" srcOrd="0" destOrd="0" presId="urn:microsoft.com/office/officeart/2005/8/layout/hierarchy1"/>
    <dgm:cxn modelId="{E3ADE8DF-0A1E-4C15-94CE-99B4E2FDA152}" type="presParOf" srcId="{E6E7BCAB-30E3-4BAF-A698-2CC5F6E0A169}" destId="{CBDE59B2-500D-4A24-8579-0EC53AEFF7BB}" srcOrd="1" destOrd="0" presId="urn:microsoft.com/office/officeart/2005/8/layout/hierarchy1"/>
    <dgm:cxn modelId="{1B5CC17A-9867-4063-905E-74052C07E085}" type="presParOf" srcId="{0265FB0E-16E3-4638-8C78-2661B6CA2841}" destId="{31B8F93F-70F4-42E9-A38F-4B28CE858FA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017E5-2856-4C28-A1A6-4E6147CF6E41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DE927-A41A-4097-B46D-D45181926DA9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Most promising Model was Model 2</a:t>
          </a:r>
        </a:p>
      </dsp:txBody>
      <dsp:txXfrm>
        <a:off x="696297" y="538547"/>
        <a:ext cx="4171627" cy="2590157"/>
      </dsp:txXfrm>
    </dsp:sp>
    <dsp:sp modelId="{95BDADEE-417D-4C84-8CE4-678DFB9BB174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E59B2-500D-4A24-8579-0EC53AEFF7B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Decided to do a full train run on all of the data using the training pre processing as mentioned before using 32 epochs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DC2CE-80AD-4AEF-8DC9-3F74075DB88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4C720-FD0E-4FA2-A67E-9CEBA055F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2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87740-49A6-8C93-65FB-8DD16382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79C2E-FABE-6B52-0096-F309C5961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EED74-1B36-2741-8855-55B78B8BF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DED2E-2104-71AE-7CE7-F40DE0E17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32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8078-DA5A-798B-1822-DB7E6B7D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CF53F-C77D-F120-E932-727E53351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7823D-CD0F-01A8-F317-82FADEAF4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13B6B-7AD1-DFC2-288F-D35EE48E1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22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99AAF-062B-1F40-D123-9E38DC9A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50345-9CC1-5B93-990E-D97C3FDD6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EA288-73A3-B5B7-47C6-C083820F6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29FA1-64D6-C1FD-C215-0F846E4CE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81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B550-FE91-F7C6-9608-686A677C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265BA-7E4A-B147-5AB8-3D95AC179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4F02F-91E4-6C83-261A-D3EC75871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BE974-1CF9-D1B2-9839-AB2596D5C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06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B922-A3C9-2613-EB43-8D6A1C6F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8708F-403B-A905-61D0-F2FAF5E66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5B90B-59D2-057B-3FB7-DBB790057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7AEB1-A0A9-B2E2-C13B-AD918CB8F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63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F0AF9-2911-7E44-273F-CC85A6A4F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86482-E388-94B7-6480-AC43A3F9C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6419A-F962-4E50-B2DC-ADEF57865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7014E-CE03-342C-C1E6-40E85C0FE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0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F848-613B-CA3C-0A30-71DEC578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AC7BB-2245-3BF8-ED5C-DDE1E9814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BFA80-D4F4-AB8E-9CD8-6183D8F2F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FBE3C-A516-D006-13B6-820449F6B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0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825E-E167-F0E4-D03D-2675F8F7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04A85-AEAF-BA6A-55B9-4A69C4C57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0DE72-0105-0A4C-E521-99458A826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A599C-2AC0-61C2-4104-49058F237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60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4EB8-2E7A-CDC8-9735-69FD62916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5A123-766B-FAB3-61DB-D6EB8F7AA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0D104-8DFE-6F47-E13D-ED019A09E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DD417-37D4-B11C-5184-C096E428B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62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9E9C-B09C-7785-F86C-4ABBBEDF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8D88F-7EFB-A811-6E2D-40ABD9FFF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0BB97-2C7A-A217-61AF-7EE20E50E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EEF81-1EA8-9942-75C0-C7D87C012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4C720-FD0E-4FA2-A67E-9CEBA055F6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64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1CCB-E028-C972-DDAD-3B7F2D06E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8D672-B7C2-23A2-3ACE-67499EBD2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8F71-75B7-3EE2-FD86-1EC0DC50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D3BC8-BC44-E2EA-2B00-8D5E3D64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5D0B-6D29-9B20-C328-57C17001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3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8285-3958-0B0D-23F9-14FB4E57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516E-615A-EEC9-2288-105E116DB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1A484-B927-6C54-06B9-B94625FE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7B214-B94F-5ADB-95C6-3E7EE9906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DE278-BDDF-50E6-78CF-D5D12EC9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1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9467-552C-ABBC-ECF3-43E21D05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61F69-692D-C706-F5B5-680FBFC4F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0FAD2-A77E-5535-3405-242D3E83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DCBA8-3C47-9B9D-8D64-53282F94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85EB6-777A-079C-8D0F-4FE3E46C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8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E582-9226-A3AE-BDBE-EAEE44A3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6BDCE-A58C-FC09-3122-FA2D94C9C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06417-9B10-8DC7-F164-84C718FE3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A4909-9230-5F2B-6705-90BC891FB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EA35E-3928-E9F5-78E4-82E5896D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53EB8-A3F8-E07F-02C8-96CE36CD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9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BDCB-AD98-5368-A1BC-029A883E8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A8CE1-A58A-B423-1316-A20874C5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F621-5477-6FFB-1227-94DFDBE53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C007F0-1567-7024-A5B1-9C20F8FBA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D708F-BD2E-A495-286C-2EBFF0BA5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50DDB-3338-2877-DDB6-658C7E1E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89747-9C4F-72C6-382D-60D859D5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0B707-6138-FD94-28E8-9C8559A9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4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CEF4-1C6D-2B94-E4DF-A400F8E9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4252A-9D21-2EA9-6927-990F6E1F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32B95-1ED0-5E70-A08A-B5E24D1A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BB287-AED7-CA21-21EB-0CE73917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24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6CF71-23AB-5447-28CD-CE288BEB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956BB-E6BA-1B1D-2D75-C17945A3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F9461-A603-01E5-4D07-8DD22F08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64F9-C887-5CAF-FB61-5D98217D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86D8-1684-BE04-7F9E-0C6B0D6DC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697DF-732F-309D-0122-14848B48D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38E7D-23D0-061B-7E6B-86CF71B78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3B977-66B2-629A-296D-CEAEFDFC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580A5-4EB9-1F8A-494B-E68966BC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9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DEA3-9723-4805-E679-A23523AD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C17988-6887-B24C-5F27-1808CC4E8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6B2A6-BF83-FBD9-359B-0898D5207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8D227-F219-6D39-BB31-84FB74299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471AA-3248-2AEC-099A-DF5D6092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0D2E5-E389-143B-DC77-2E495A50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5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AF984-8A83-232C-6417-27A6C363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E6E7A-3BF3-97F3-CA67-FCD754153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8D94D-1A77-B491-6F88-6E9A5C7E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E951E-4377-9BA0-0422-73E9483A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74BA4-2DC6-3990-72EE-1F65FAC4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001177-61BE-E776-7C98-6441702E2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1BD2E-45A3-69FB-6627-3CE8C5807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AC3AB-E22B-DE00-4E0A-187F9227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E9378-275E-D686-0B26-795B5DCB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477BA-6042-F21C-0A15-F64BEF5F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4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8E47E-E025-FC5E-F1EC-42855865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1004E-EBD7-A847-C532-E342E54E9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1E3D6-3C65-91F9-52BC-C9BE5DB73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9756D-20AB-4022-98A0-8D79C33A398D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F627D-925F-F71F-C997-0F448E5DF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EF98C-22DF-781F-1BFC-D978C9CD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8487E-418D-411E-A908-FDDA813B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6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074DD-07E0-ED1F-FE06-25899C7F5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DASC 41103 - </a:t>
            </a:r>
            <a:r>
              <a:rPr lang="en-US" sz="4800">
                <a:solidFill>
                  <a:srgbClr val="FFFFFF"/>
                </a:solidFill>
              </a:rPr>
              <a:t>Project 2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1764E-06C0-9C6F-CAAB-869A54533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 Andrew Mendez, Cedric Strobel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8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240A9-95AA-0F21-373A-302E6B16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0ACC2A50-204D-66D6-09BC-66FDBA9EE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4C0016F-CB47-9038-B9C9-430266DA2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24558C9-BD79-37A5-AC92-13A823A4A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69BC9DD-4659-3DBA-B2E5-366405225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D9EEA-3A54-54ED-6C8A-AD8B6DBC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Part 1 – Dataset Development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6E957E7-D4CF-4440-4183-506494FEA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375576"/>
              </p:ext>
            </p:extLst>
          </p:nvPr>
        </p:nvGraphicFramePr>
        <p:xfrm>
          <a:off x="838200" y="1825625"/>
          <a:ext cx="10515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542328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24562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How it was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Split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53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Collected images manually from Google Images and Etsy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Used keywords like “Arkansas Razorback logo,” “Razorback,” “Arkansas hog logo.” Also, Google image search for the official logo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Split between 35 Hogs and 25 </a:t>
                      </a:r>
                      <a:r>
                        <a:rPr lang="en-US" dirty="0" err="1"/>
                        <a:t>No_Hogs</a:t>
                      </a:r>
                      <a:r>
                        <a:rPr lang="en-US" dirty="0"/>
                        <a:t> images.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Slightly biased Hogs due to it being the images were trying to classify specifically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947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96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18A9C-A8A7-BB68-3D73-1802153F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7DBA7D4C-16BD-E0DC-B5FE-00B3610DE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126DA3E-885A-30AA-3394-B2ACB180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26B3D5A-6E8F-4D1C-7773-1B3D3AA1D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E052A5E-D54E-67AA-1916-733470752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F4F17-3B64-4535-0240-A695905D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Part 1 – </a:t>
            </a:r>
            <a:r>
              <a:rPr lang="en-US" sz="4000" dirty="0">
                <a:solidFill>
                  <a:schemeClr val="bg1"/>
                </a:solidFill>
              </a:rPr>
              <a:t>Preprocessing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C2C451F-BDE0-88FC-4AAD-39FA6E6A1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5892782"/>
              </p:ext>
            </p:extLst>
          </p:nvPr>
        </p:nvGraphicFramePr>
        <p:xfrm>
          <a:off x="838200" y="1825625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71638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123401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373283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2806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Basic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CV of K-Fold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500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Train and Validation datasets were all resized to 500x500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Random Horizontal flips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Random Rotation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Random resized crop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Random Color jitter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Normalization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Normalization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StratifiedKFold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n_splits</a:t>
                      </a:r>
                      <a:r>
                        <a:rPr lang="en-US" dirty="0"/>
                        <a:t>=5)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Preserved class proportions in every fold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Created 5 training/validation splits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144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24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C63D7-3251-BAC6-7AC7-00D42AAD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BF9EC2A2-FC8A-A114-1093-0E9C817A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9D1FB82-0D7A-AF59-6F5A-2FA65488E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7593484-CA0A-DD45-0027-DA8B7110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D9652C7-7B32-19E0-BD57-8783EBC68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B963C-EB93-77FE-832D-ED892706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Part 2 – CNN Model Candidates </a:t>
            </a:r>
            <a:endParaRPr lang="en-US" sz="4000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C166ED-49D9-68D7-316D-10543FDA87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765757"/>
              </p:ext>
            </p:extLst>
          </p:nvPr>
        </p:nvGraphicFramePr>
        <p:xfrm>
          <a:off x="838200" y="1653872"/>
          <a:ext cx="10515600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787445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34836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31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 Channel of 16 and linearly increases for each Conv block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Batch Size of 5 and 40 epochs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Loss Function uses Cross Entropy Loss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Optimizer we use Adam with a learning rate of 0.001 and weight decay of 0.0001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5 Conv blocks each with a filter of 3 and padding of 1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. End of each block includes a 2D Pooling of 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Flatten Layer which leads to a FC layer of 1024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 and dropout of 0.5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Final layers is a FC of 1024 to 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 Channel of 16 and </a:t>
                      </a:r>
                      <a:r>
                        <a:rPr lang="en-US" dirty="0" err="1"/>
                        <a:t>expontinally</a:t>
                      </a:r>
                      <a:r>
                        <a:rPr lang="en-US" dirty="0"/>
                        <a:t> increases for each Conv block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Batch Size of 5 and 40 epochs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Loss Function uses Cross Entropy Loss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Optimizer we use Adam with a learning rate of 0.001 and weight decay of 0.0001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4 Conv blocks each with a filter of 3 and padding of 1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. Each block includes a Batch Norm. End of each block includes a 2D Pooling of 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Next block we use is a Global Avg Pool so we can get it down to a 1x1 before we pass through FC layer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Flatten Layer which leads to a FC layer of 128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 and dropout of 0.5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Final layers is a FC of 128 to 2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841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30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17907-A38C-52AD-7652-FF1824981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27AF24CF-543A-940B-9259-C4BB5520B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8BCF72E-F38D-D110-5F69-7220C6515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BF2C50A-F77A-B7F2-6EAD-87A81E2D5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84B6F3E-94AD-9E57-4DAC-C510FE369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AAD73-868D-9E04-740D-CA29D1EA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Part 2 – CNN Model Candidates </a:t>
            </a:r>
            <a:endParaRPr lang="en-US" sz="4000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27ABAF0-D037-76F6-2B4F-016B76C87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582197"/>
              </p:ext>
            </p:extLst>
          </p:nvPr>
        </p:nvGraphicFramePr>
        <p:xfrm>
          <a:off x="838200" y="1653872"/>
          <a:ext cx="10515600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787445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34836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31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 Channel of 16 and </a:t>
                      </a:r>
                      <a:r>
                        <a:rPr lang="en-US" dirty="0" err="1"/>
                        <a:t>expontinally</a:t>
                      </a:r>
                      <a:r>
                        <a:rPr lang="en-US" dirty="0"/>
                        <a:t> increases for each Conv block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Batch Size of 8 and 40 epochs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Loss Function uses Cross Entropy Loss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Optimizer we use Adam with a learning rate of 0.001 and weight decay of 0.0001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4 Conv blocks each with a filter of 3 and padding of 1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. Each block includes a Batch Norm. End of each block includes a 2D Pooling of 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Next block we use is a Global Avg Pool so we can get it down to a 1x1 before we pass through FC layer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Flatten Layer which leads to a FC layer of 128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 and dropout of 0.5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Final layers is a FC of 128 to 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 Channel of 16 and </a:t>
                      </a:r>
                      <a:r>
                        <a:rPr lang="en-US" dirty="0" err="1"/>
                        <a:t>expontinally</a:t>
                      </a:r>
                      <a:r>
                        <a:rPr lang="en-US" dirty="0"/>
                        <a:t> increases for each Conv block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Batch Size of 2 and 40 epochs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Loss Function uses Cross Entropy Loss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Optimizer we use Adam with a learning rate of 0.001 and weight decay of 0.0001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4 Conv blocks each with a filter of 3 and padding of 1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. Each block includes a Batch Norm. End of each block includes a 2D Pooling of 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Next block we use is a Global Avg Pool so we can get it down to a 1x1 before we pass through FC layer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Flatten Layer which leads to a FC layer of 128 using </a:t>
                      </a:r>
                      <a:r>
                        <a:rPr lang="en-US" dirty="0" err="1"/>
                        <a:t>ReLU</a:t>
                      </a:r>
                      <a:r>
                        <a:rPr lang="en-US" dirty="0"/>
                        <a:t> and dropout of 0.5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Final layers is a FC of 128 to 2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841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80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B4147-BE8C-C903-9C7D-B981AD30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lowchart: Document 10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49A9B-C3CC-629C-AA64-694E1A77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Diagnosis Validation Mean Accuracy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DC2505-AEFE-3ACF-A22B-176F731408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804982"/>
              </p:ext>
            </p:extLst>
          </p:nvPr>
        </p:nvGraphicFramePr>
        <p:xfrm>
          <a:off x="4207933" y="2418100"/>
          <a:ext cx="7347540" cy="2022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885">
                  <a:extLst>
                    <a:ext uri="{9D8B030D-6E8A-4147-A177-3AD203B41FA5}">
                      <a16:colId xmlns:a16="http://schemas.microsoft.com/office/drawing/2014/main" val="2854966558"/>
                    </a:ext>
                  </a:extLst>
                </a:gridCol>
                <a:gridCol w="1836885">
                  <a:extLst>
                    <a:ext uri="{9D8B030D-6E8A-4147-A177-3AD203B41FA5}">
                      <a16:colId xmlns:a16="http://schemas.microsoft.com/office/drawing/2014/main" val="3704464525"/>
                    </a:ext>
                  </a:extLst>
                </a:gridCol>
                <a:gridCol w="1836885">
                  <a:extLst>
                    <a:ext uri="{9D8B030D-6E8A-4147-A177-3AD203B41FA5}">
                      <a16:colId xmlns:a16="http://schemas.microsoft.com/office/drawing/2014/main" val="288236260"/>
                    </a:ext>
                  </a:extLst>
                </a:gridCol>
                <a:gridCol w="1836885">
                  <a:extLst>
                    <a:ext uri="{9D8B030D-6E8A-4147-A177-3AD203B41FA5}">
                      <a16:colId xmlns:a16="http://schemas.microsoft.com/office/drawing/2014/main" val="3526785103"/>
                    </a:ext>
                  </a:extLst>
                </a:gridCol>
              </a:tblGrid>
              <a:tr h="677439"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Model 1</a:t>
                      </a:r>
                    </a:p>
                  </a:txBody>
                  <a:tcPr marL="186057" marR="246453" marT="143121" marB="143121" anchor="ctr"/>
                </a:tc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Model 2</a:t>
                      </a:r>
                    </a:p>
                  </a:txBody>
                  <a:tcPr marL="186057" marR="246453" marT="143121" marB="143121" anchor="ctr"/>
                </a:tc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Model 3</a:t>
                      </a:r>
                    </a:p>
                  </a:txBody>
                  <a:tcPr marL="186057" marR="246453" marT="143121" marB="143121" anchor="ctr"/>
                </a:tc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Model 4</a:t>
                      </a:r>
                    </a:p>
                  </a:txBody>
                  <a:tcPr marL="186057" marR="246453" marT="143121" marB="143121" anchor="ctr"/>
                </a:tc>
                <a:extLst>
                  <a:ext uri="{0D108BD9-81ED-4DB2-BD59-A6C34878D82A}">
                    <a16:rowId xmlns:a16="http://schemas.microsoft.com/office/drawing/2014/main" val="338287204"/>
                  </a:ext>
                </a:extLst>
              </a:tr>
              <a:tr h="1345337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Mean Accuracy: 78%</a:t>
                      </a:r>
                    </a:p>
                  </a:txBody>
                  <a:tcPr marL="186057" marR="246453" marT="143121" marB="1431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Mean Accuracy: 88%</a:t>
                      </a:r>
                    </a:p>
                  </a:txBody>
                  <a:tcPr marL="186057" marR="246453" marT="143121" marB="1431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Mean Accuracy: 81%</a:t>
                      </a:r>
                    </a:p>
                  </a:txBody>
                  <a:tcPr marL="186057" marR="246453" marT="143121" marB="1431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Mean Accuracy: 85%</a:t>
                      </a:r>
                    </a:p>
                  </a:txBody>
                  <a:tcPr marL="186057" marR="246453" marT="143121" marB="143121"/>
                </a:tc>
                <a:extLst>
                  <a:ext uri="{0D108BD9-81ED-4DB2-BD59-A6C34878D82A}">
                    <a16:rowId xmlns:a16="http://schemas.microsoft.com/office/drawing/2014/main" val="388770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118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B91BE-8961-E173-A557-4F6F6E66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A817D-46D0-336B-C8AB-FEEAF2C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1 Diagnosis </a:t>
            </a:r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42F6DCA-3520-BE53-8A25-2824E9425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4005" y="643466"/>
            <a:ext cx="332732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9E6F7-8FFF-E48F-9256-777F16CF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04162-C271-33BF-E43E-6E584650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2 Diagnosis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6E28BF-4CB0-1CBA-81F3-DCC07ADF6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4005" y="643466"/>
            <a:ext cx="332732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12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553B0-2B10-265E-107C-BCBEABA8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DA529-73F4-1E06-7C09-92692592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3 Diagnosis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F111A9D-1F87-E9C7-768A-B0A67A8BB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4005" y="643466"/>
            <a:ext cx="332732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1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F3189-F4B8-FBEB-1943-953BD653C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E638D-62CD-621B-2423-618A73570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4 Diagnosis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A7BEC8-A1D6-6366-274B-5B221B91C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4005" y="643466"/>
            <a:ext cx="332732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33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FFDA2-AC0D-2C28-71FF-1B623D50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4 Average Validation Accuracy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4F378-9787-531F-F6E7-6E22EFBE4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408916"/>
            <a:ext cx="7347537" cy="404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53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F56C3-720D-EFFC-AF68-9959819B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35A15-50FF-8507-D18E-21D6DDE7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4 Average Validation Accuracy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375AF7-22F4-BB65-0C3D-8DFBDED23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408916"/>
            <a:ext cx="7347537" cy="404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30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77CB5-DAA9-BB40-3F99-4E96A08F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28F52-9BB8-EE2B-6B36-EE155A4E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4 Average Validation Accuracy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206F91-5AB8-FDB0-67A3-0FD116B00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408916"/>
            <a:ext cx="7347537" cy="404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6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956CA-432C-3194-DC40-1DFC4C06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DD31A-9CFC-4298-DB5D-D68A7B91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4 Average Validation Accuracy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8595E6-5083-2B69-6928-5886BF220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408916"/>
            <a:ext cx="7347537" cy="404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5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6DB4C-85B6-A60B-0C99-7E49F0787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lowchart: Document 11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A1E2C-AD7E-6B53-A23E-7961951B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 – Model Diagnosis Validation Best Epoch Mean Accuracy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93F7E7-9C0B-DF22-FE46-2C0C12628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127735"/>
              </p:ext>
            </p:extLst>
          </p:nvPr>
        </p:nvGraphicFramePr>
        <p:xfrm>
          <a:off x="4207933" y="1864403"/>
          <a:ext cx="7347540" cy="3130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885">
                  <a:extLst>
                    <a:ext uri="{9D8B030D-6E8A-4147-A177-3AD203B41FA5}">
                      <a16:colId xmlns:a16="http://schemas.microsoft.com/office/drawing/2014/main" val="2854966558"/>
                    </a:ext>
                  </a:extLst>
                </a:gridCol>
                <a:gridCol w="1836885">
                  <a:extLst>
                    <a:ext uri="{9D8B030D-6E8A-4147-A177-3AD203B41FA5}">
                      <a16:colId xmlns:a16="http://schemas.microsoft.com/office/drawing/2014/main" val="3704464525"/>
                    </a:ext>
                  </a:extLst>
                </a:gridCol>
                <a:gridCol w="1836885">
                  <a:extLst>
                    <a:ext uri="{9D8B030D-6E8A-4147-A177-3AD203B41FA5}">
                      <a16:colId xmlns:a16="http://schemas.microsoft.com/office/drawing/2014/main" val="288236260"/>
                    </a:ext>
                  </a:extLst>
                </a:gridCol>
                <a:gridCol w="1836885">
                  <a:extLst>
                    <a:ext uri="{9D8B030D-6E8A-4147-A177-3AD203B41FA5}">
                      <a16:colId xmlns:a16="http://schemas.microsoft.com/office/drawing/2014/main" val="3526785103"/>
                    </a:ext>
                  </a:extLst>
                </a:gridCol>
              </a:tblGrid>
              <a:tr h="724798">
                <a:tc>
                  <a:txBody>
                    <a:bodyPr/>
                    <a:lstStyle/>
                    <a:p>
                      <a:r>
                        <a:rPr lang="en-US" sz="2100" b="1" cap="none" spc="0">
                          <a:solidFill>
                            <a:srgbClr val="FFFFFF"/>
                          </a:solidFill>
                        </a:rPr>
                        <a:t>Model 1</a:t>
                      </a:r>
                    </a:p>
                  </a:txBody>
                  <a:tcPr marL="298680" marR="179208" marT="179208" marB="179208" anchor="ctr"/>
                </a:tc>
                <a:tc>
                  <a:txBody>
                    <a:bodyPr/>
                    <a:lstStyle/>
                    <a:p>
                      <a:r>
                        <a:rPr lang="en-US" sz="2100" b="1" cap="none" spc="0">
                          <a:solidFill>
                            <a:srgbClr val="FFFFFF"/>
                          </a:solidFill>
                        </a:rPr>
                        <a:t>Model 2</a:t>
                      </a:r>
                    </a:p>
                  </a:txBody>
                  <a:tcPr marL="298680" marR="179208" marT="179208" marB="179208" anchor="ctr"/>
                </a:tc>
                <a:tc>
                  <a:txBody>
                    <a:bodyPr/>
                    <a:lstStyle/>
                    <a:p>
                      <a:r>
                        <a:rPr lang="en-US" sz="2100" b="1" cap="none" spc="0">
                          <a:solidFill>
                            <a:srgbClr val="FFFFFF"/>
                          </a:solidFill>
                        </a:rPr>
                        <a:t>Model 3</a:t>
                      </a:r>
                    </a:p>
                  </a:txBody>
                  <a:tcPr marL="298680" marR="179208" marT="179208" marB="179208" anchor="ctr"/>
                </a:tc>
                <a:tc>
                  <a:txBody>
                    <a:bodyPr/>
                    <a:lstStyle/>
                    <a:p>
                      <a:r>
                        <a:rPr lang="en-US" sz="2100" b="1" cap="none" spc="0">
                          <a:solidFill>
                            <a:srgbClr val="FFFFFF"/>
                          </a:solidFill>
                        </a:rPr>
                        <a:t>Model 4</a:t>
                      </a:r>
                    </a:p>
                  </a:txBody>
                  <a:tcPr marL="298680" marR="179208" marT="179208" marB="179208" anchor="ctr"/>
                </a:tc>
                <a:extLst>
                  <a:ext uri="{0D108BD9-81ED-4DB2-BD59-A6C34878D82A}">
                    <a16:rowId xmlns:a16="http://schemas.microsoft.com/office/drawing/2014/main" val="338287204"/>
                  </a:ext>
                </a:extLst>
              </a:tr>
              <a:tr h="1043391">
                <a:tc>
                  <a:txBody>
                    <a:bodyPr/>
                    <a:lstStyle/>
                    <a:p>
                      <a:r>
                        <a:rPr lang="en-US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Epoch: 19</a:t>
                      </a:r>
                    </a:p>
                  </a:txBody>
                  <a:tcPr marL="298680" marR="179208" marT="179208" marB="17920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Epoch: 32</a:t>
                      </a:r>
                    </a:p>
                  </a:txBody>
                  <a:tcPr marL="298680" marR="179208" marT="179208" marB="17920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Epoch: 25</a:t>
                      </a:r>
                    </a:p>
                  </a:txBody>
                  <a:tcPr marL="298680" marR="179208" marT="179208" marB="17920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Epoch: 16</a:t>
                      </a:r>
                    </a:p>
                  </a:txBody>
                  <a:tcPr marL="298680" marR="179208" marT="179208" marB="179208"/>
                </a:tc>
                <a:extLst>
                  <a:ext uri="{0D108BD9-81ED-4DB2-BD59-A6C34878D82A}">
                    <a16:rowId xmlns:a16="http://schemas.microsoft.com/office/drawing/2014/main" val="949654920"/>
                  </a:ext>
                </a:extLst>
              </a:tr>
              <a:tr h="1361983">
                <a:tc>
                  <a:txBody>
                    <a:bodyPr/>
                    <a:lstStyle/>
                    <a:p>
                      <a:r>
                        <a:rPr lang="en-US" sz="2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Mean Accuracy: 80%</a:t>
                      </a:r>
                    </a:p>
                  </a:txBody>
                  <a:tcPr marL="298680" marR="179208" marT="179208" marB="17920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Mean Accuracy: 92%</a:t>
                      </a:r>
                    </a:p>
                  </a:txBody>
                  <a:tcPr marL="298680" marR="179208" marT="179208" marB="17920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Mean Accuracy: 88%</a:t>
                      </a:r>
                    </a:p>
                  </a:txBody>
                  <a:tcPr marL="298680" marR="179208" marT="179208" marB="17920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Mean Accuracy: 80%</a:t>
                      </a:r>
                    </a:p>
                  </a:txBody>
                  <a:tcPr marL="298680" marR="179208" marT="179208" marB="179208"/>
                </a:tc>
                <a:extLst>
                  <a:ext uri="{0D108BD9-81ED-4DB2-BD59-A6C34878D82A}">
                    <a16:rowId xmlns:a16="http://schemas.microsoft.com/office/drawing/2014/main" val="388770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95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21616-CC82-F4F2-7EB8-693BE516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Part 2 – Most Promising Model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7AAF78B-C50C-FEC0-8013-B592FDE61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938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236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1DBBE-F676-97A5-22B9-A11BC749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 3 - How did you create your dataset and determine split of official logo versus not official logo?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9457B25-E03B-D061-01BB-61E29D88B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3158" y="649480"/>
            <a:ext cx="48624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Manually collected images from Google Images and Etsy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Two labels: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Includes official Razorback logo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vs.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Does not include logo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Organized into two folders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ImageFolder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loading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Final split was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58% Hog / 42% Non-Hog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Slight imbalance intentional since the model focuses on detecting the official logo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StratifiedKFold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(5 folds)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preserve class proportions and avoid sampling bias</a:t>
            </a:r>
          </a:p>
        </p:txBody>
      </p:sp>
    </p:spTree>
    <p:extLst>
      <p:ext uri="{BB962C8B-B14F-4D97-AF65-F5344CB8AC3E}">
        <p14:creationId xmlns:p14="http://schemas.microsoft.com/office/powerpoint/2010/main" val="408068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4EC9F-EF79-258F-8C67-7C80429AD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16CC2-152A-F353-DE68-E56F66A6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 3 - Why did you choose the specific architecture for the final model?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DC449C-92E2-6B40-466D-F939D8B23D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3158" y="649480"/>
            <a:ext cx="48624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2 had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highest and most stable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across all folds (92%)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BatchNorm</a:t>
            </a:r>
            <a:r>
              <a:rPr lang="en-US" altLang="en-US" sz="2000" dirty="0"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more stable gradients &amp; better generalization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Global Average Pooling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fewer parameters, less overfitting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the classifier for regularization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Best generalization occurred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epoch 32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confirming architecture choice</a:t>
            </a:r>
          </a:p>
        </p:txBody>
      </p:sp>
    </p:spTree>
    <p:extLst>
      <p:ext uri="{BB962C8B-B14F-4D97-AF65-F5344CB8AC3E}">
        <p14:creationId xmlns:p14="http://schemas.microsoft.com/office/powerpoint/2010/main" val="2652172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9E284-EE20-7CF7-6359-961A03667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2E47-52BA-134F-1F4A-23118507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 3 - How did you monitor and mitigate overfitting?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5B733E-0E9E-BAC6-2316-226259C1BD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3158" y="649480"/>
            <a:ext cx="48624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training vs. validation accuracy and loss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across 40 epochs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Applied strong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augmentation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(flips, rotations, crops, color jitter)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BatchNorm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weight decay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Stratified 5-fold cross-validation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evaluate on multiple validation sets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Chose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epoch 32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as the best stopping point based on peak mean 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536105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B518E-4367-4695-B70D-C65D211C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3D831-D008-F50B-9181-D4DB15B3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 3 - What future efforts could improve performance?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13BF9DF-4F91-EAD0-3DF2-95FECB4E5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3158" y="649480"/>
            <a:ext cx="48624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 more diverse Hog and Non-Hog images to expand dataset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stronger augmentation (Cutout,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Mixup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AutoAugment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transfer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MobileNet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EfficientNet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 learning rate scheduling and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early stopping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62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6096</TotalTime>
  <Words>1064</Words>
  <Application>Microsoft Office PowerPoint</Application>
  <PresentationFormat>Widescreen</PresentationFormat>
  <Paragraphs>128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DASC 41103 - Project 2</vt:lpstr>
      <vt:lpstr>Part 1 – Dataset Development</vt:lpstr>
      <vt:lpstr>Part 1 – Preprocessing</vt:lpstr>
      <vt:lpstr>Part 2 – CNN Model Candidates </vt:lpstr>
      <vt:lpstr>Part 2 – CNN Model Candidates </vt:lpstr>
      <vt:lpstr>Part 2 – Model Diagnosis Validation Mean Accuracy</vt:lpstr>
      <vt:lpstr>Part 2 – Model 1 Diagnosis </vt:lpstr>
      <vt:lpstr>Part 2 – Model 2 Diagnosis </vt:lpstr>
      <vt:lpstr>Part 2 – Model 3 Diagnosis </vt:lpstr>
      <vt:lpstr>Part 2 – Model 4 Diagnosis </vt:lpstr>
      <vt:lpstr>Part 2 – Model 4 Average Validation Accuracy</vt:lpstr>
      <vt:lpstr>Part 2 – Model 4 Average Validation Accuracy</vt:lpstr>
      <vt:lpstr>Part 2 – Model 4 Average Validation Accuracy</vt:lpstr>
      <vt:lpstr>Part 2 – Model 4 Average Validation Accuracy</vt:lpstr>
      <vt:lpstr>Part 2 – Model Diagnosis Validation Best Epoch Mean Accuracy</vt:lpstr>
      <vt:lpstr>Part 2 – Most Promising Model</vt:lpstr>
      <vt:lpstr>Part 3 - How did you create your dataset and determine split of official logo versus not official logo?</vt:lpstr>
      <vt:lpstr>Part 3 - Why did you choose the specific architecture for the final model?</vt:lpstr>
      <vt:lpstr>Part 3 - How did you monitor and mitigate overfitting?</vt:lpstr>
      <vt:lpstr>Part 3 - What future efforts could improve performance?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Mendez</dc:creator>
  <cp:lastModifiedBy>Andrew Mendez</cp:lastModifiedBy>
  <cp:revision>4</cp:revision>
  <dcterms:created xsi:type="dcterms:W3CDTF">2025-09-28T07:29:37Z</dcterms:created>
  <dcterms:modified xsi:type="dcterms:W3CDTF">2025-11-25T19:23:00Z</dcterms:modified>
</cp:coreProperties>
</file>